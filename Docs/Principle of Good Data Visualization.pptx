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WDL0QJ7RbiJTpZhsLqf819hE0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5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:notes"/>
          <p:cNvSpPr txBox="1">
            <a:spLocks noGrp="1"/>
          </p:cNvSpPr>
          <p:nvPr>
            <p:ph type="sldNum" idx="12"/>
          </p:nvPr>
        </p:nvSpPr>
        <p:spPr>
          <a:xfrm>
            <a:off x="3884414" y="8684684"/>
            <a:ext cx="29718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3" name="Google Shape;3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obj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>
            <a:spLocks noGrp="1"/>
          </p:cNvSpPr>
          <p:nvPr>
            <p:ph type="title"/>
          </p:nvPr>
        </p:nvSpPr>
        <p:spPr>
          <a:xfrm>
            <a:off x="501729" y="364045"/>
            <a:ext cx="4944600" cy="8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body" idx="1"/>
          </p:nvPr>
        </p:nvSpPr>
        <p:spPr>
          <a:xfrm>
            <a:off x="688181" y="1294590"/>
            <a:ext cx="4866600" cy="3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>
            <a:spLocks noGrp="1"/>
          </p:cNvSpPr>
          <p:nvPr>
            <p:ph type="title"/>
          </p:nvPr>
        </p:nvSpPr>
        <p:spPr>
          <a:xfrm>
            <a:off x="501729" y="364045"/>
            <a:ext cx="4944600" cy="8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37000">
              <a:srgbClr val="25A385"/>
            </a:gs>
            <a:gs pos="83000">
              <a:srgbClr val="25A385"/>
            </a:gs>
            <a:gs pos="100000">
              <a:srgbClr val="25A38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05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2688" y="0"/>
            <a:ext cx="2111310" cy="212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21693"/>
            <a:ext cx="4021930" cy="302180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 txBox="1"/>
          <p:nvPr/>
        </p:nvSpPr>
        <p:spPr>
          <a:xfrm>
            <a:off x="3409484" y="361698"/>
            <a:ext cx="2532900" cy="5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80975" rIns="0" bIns="0" anchor="t" anchorCtr="0">
            <a:spAutoFit/>
          </a:bodyPr>
          <a:lstStyle/>
          <a:p>
            <a:pPr marL="0" marR="381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GLA</a:t>
            </a:r>
            <a:endParaRPr sz="1100" b="1" i="0" u="none" strike="noStrike" cap="non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74E13"/>
                </a:solidFill>
                <a:latin typeface="Trebuchet MS"/>
                <a:ea typeface="Trebuchet MS"/>
                <a:cs typeface="Trebuchet MS"/>
                <a:sym typeface="Trebuchet MS"/>
              </a:rPr>
              <a:t>“A Place to Invent and Learn”</a:t>
            </a:r>
            <a:endParaRPr sz="1400" b="1" i="0" u="none" strike="noStrike" cap="none">
              <a:solidFill>
                <a:srgbClr val="274E1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4788" y="4355775"/>
            <a:ext cx="485775" cy="5286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 txBox="1"/>
          <p:nvPr/>
        </p:nvSpPr>
        <p:spPr>
          <a:xfrm>
            <a:off x="3192694" y="3782513"/>
            <a:ext cx="2966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274E13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Visualization </a:t>
            </a:r>
            <a:endParaRPr sz="2700" b="0" i="0" u="none" strike="noStrike" cap="none">
              <a:solidFill>
                <a:srgbClr val="274E1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5494" y="1228856"/>
            <a:ext cx="5329238" cy="239315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0" y="495900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37000">
              <a:srgbClr val="25A385"/>
            </a:gs>
            <a:gs pos="83000">
              <a:srgbClr val="25A385"/>
            </a:gs>
            <a:gs pos="100000">
              <a:srgbClr val="25A38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2688" y="0"/>
            <a:ext cx="2111310" cy="212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21693"/>
            <a:ext cx="4021930" cy="30218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1420299" y="3761000"/>
            <a:ext cx="67530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00" rIns="0" bIns="0" anchor="t" anchorCtr="0">
            <a:spAutoFit/>
          </a:bodyPr>
          <a:lstStyle/>
          <a:p>
            <a:pPr marL="12700" marR="0" lvl="0" indent="0" algn="l" rtl="0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 2: Principle of Good Data Visualization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08194" y="4507706"/>
            <a:ext cx="485775" cy="52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A Beginners Guide To Data Visualization (Hot Tips For Creating Stand-Out  Charts)| The Beautiful Blo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0008" y="1060370"/>
            <a:ext cx="5083983" cy="254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0" y="571500"/>
            <a:ext cx="9144000" cy="393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608493" y="1243489"/>
            <a:ext cx="13692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Agenda</a:t>
            </a:r>
            <a:endParaRPr sz="2300"/>
          </a:p>
        </p:txBody>
      </p:sp>
      <p:grpSp>
        <p:nvGrpSpPr>
          <p:cNvPr id="96" name="Google Shape;96;p3"/>
          <p:cNvGrpSpPr/>
          <p:nvPr/>
        </p:nvGrpSpPr>
        <p:grpSpPr>
          <a:xfrm>
            <a:off x="4914900" y="742950"/>
            <a:ext cx="3979069" cy="4293394"/>
            <a:chOff x="6553200" y="990600"/>
            <a:chExt cx="5305425" cy="5724525"/>
          </a:xfrm>
        </p:grpSpPr>
        <p:pic>
          <p:nvPicPr>
            <p:cNvPr id="97" name="Google Shape;9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3200" y="990600"/>
              <a:ext cx="4724400" cy="487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3"/>
          <p:cNvSpPr txBox="1"/>
          <p:nvPr/>
        </p:nvSpPr>
        <p:spPr>
          <a:xfrm>
            <a:off x="608493" y="1975814"/>
            <a:ext cx="35433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00" rIns="0" bIns="0" anchor="t" anchorCtr="0">
            <a:spAutoFit/>
          </a:bodyPr>
          <a:lstStyle/>
          <a:p>
            <a:pPr marL="34290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•"/>
            </a:pPr>
            <a:r>
              <a:rPr lang="en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Perception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•"/>
            </a:pPr>
            <a:r>
              <a:rPr lang="en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Gestalt Principles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•"/>
            </a:pPr>
            <a:r>
              <a:rPr lang="en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Cognitive Load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•"/>
            </a:pPr>
            <a:r>
              <a:rPr lang="en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Principle of Good Data Visualization</a:t>
            </a: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1507331" cy="5143500"/>
          </a:xfrm>
          <a:custGeom>
            <a:avLst/>
            <a:gdLst/>
            <a:ahLst/>
            <a:cxnLst/>
            <a:rect l="l" t="t" r="r" b="b"/>
            <a:pathLst>
              <a:path w="2009775" h="6858000" extrusionOk="0">
                <a:moveTo>
                  <a:pt x="2009775" y="0"/>
                </a:moveTo>
                <a:lnTo>
                  <a:pt x="0" y="0"/>
                </a:lnTo>
                <a:lnTo>
                  <a:pt x="0" y="6858000"/>
                </a:lnTo>
                <a:lnTo>
                  <a:pt x="2009775" y="6858000"/>
                </a:lnTo>
                <a:lnTo>
                  <a:pt x="2009775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8194" y="4511138"/>
            <a:ext cx="485775" cy="5252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529250" y="1745125"/>
            <a:ext cx="1896900" cy="1874100"/>
          </a:xfrm>
          <a:prstGeom prst="ellipse">
            <a:avLst/>
          </a:prstGeom>
          <a:solidFill>
            <a:srgbClr val="38761D"/>
          </a:solidFill>
          <a:ln w="1905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7501" y="2439916"/>
            <a:ext cx="1280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12700" marR="0" lvl="0" indent="0" algn="ctr" rtl="0">
              <a:lnSpc>
                <a:spcPct val="917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FFFFFF"/>
                </a:solidFill>
              </a:rPr>
              <a:t>Visual Perception </a:t>
            </a:r>
            <a:endParaRPr sz="1600"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774" y="2790375"/>
            <a:ext cx="3922975" cy="18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2707075" y="322650"/>
            <a:ext cx="6186900" cy="22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perception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the process by which the brain interprets and makes sense of visual information received through the eyes. It’s not just about seeing—it's about </a:t>
            </a:r>
            <a:r>
              <a:rPr lang="en" sz="1300" b="0" i="1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what is seen.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Sensation vs. Perception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Sensation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The eyes detect light, color, shapes, motion, etc.</a:t>
            </a:r>
            <a:b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Perception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The brain organizes and interprets these sensations to recognize objects, patterns, depth, and meaning.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507331" cy="5143500"/>
          </a:xfrm>
          <a:custGeom>
            <a:avLst/>
            <a:gdLst/>
            <a:ahLst/>
            <a:cxnLst/>
            <a:rect l="l" t="t" r="r" b="b"/>
            <a:pathLst>
              <a:path w="2009775" h="6858000" extrusionOk="0">
                <a:moveTo>
                  <a:pt x="2009775" y="0"/>
                </a:moveTo>
                <a:lnTo>
                  <a:pt x="0" y="0"/>
                </a:lnTo>
                <a:lnTo>
                  <a:pt x="0" y="6858000"/>
                </a:lnTo>
                <a:lnTo>
                  <a:pt x="2009775" y="6858000"/>
                </a:lnTo>
                <a:lnTo>
                  <a:pt x="2009775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8194" y="4511138"/>
            <a:ext cx="485775" cy="52520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529250" y="1745125"/>
            <a:ext cx="1896900" cy="1874100"/>
          </a:xfrm>
          <a:prstGeom prst="ellipse">
            <a:avLst/>
          </a:prstGeom>
          <a:solidFill>
            <a:srgbClr val="38761D"/>
          </a:solidFill>
          <a:ln w="1905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7501" y="2439916"/>
            <a:ext cx="1280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12700" marR="0" lvl="0" indent="0" algn="ctr" rtl="0">
              <a:lnSpc>
                <a:spcPct val="917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FFFFFF"/>
                </a:solidFill>
              </a:rPr>
              <a:t>Visual Perception </a:t>
            </a:r>
            <a:endParaRPr sz="1600"/>
          </a:p>
        </p:txBody>
      </p:sp>
      <p:sp>
        <p:nvSpPr>
          <p:cNvPr id="118" name="Google Shape;118;p5"/>
          <p:cNvSpPr txBox="1"/>
          <p:nvPr/>
        </p:nvSpPr>
        <p:spPr>
          <a:xfrm>
            <a:off x="2581725" y="1020225"/>
            <a:ext cx="5726400" cy="12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AutoNum type="arabicPeriod"/>
            </a:pPr>
            <a:r>
              <a:rPr lang="en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"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snetecne is esay to raed eevn touhgh the lteetrs in the mdilde are mxied up."</a:t>
            </a:r>
            <a:b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"People can sltil uesdnratnd txet qiuet qlcuiky as lnog as the frsit and lsat lteetrs are in the rgiht pcale."</a:t>
            </a:r>
            <a:r>
              <a:rPr lang="en" sz="11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/>
            </a:r>
            <a:br>
              <a:rPr lang="en" sz="11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5300" y="2800350"/>
            <a:ext cx="2530150" cy="10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4600" y="2800350"/>
            <a:ext cx="2793250" cy="10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126" name="Google Shape;126;p6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127" name="Google Shape;127;p6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6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4304625" y="1087983"/>
            <a:ext cx="3962400" cy="12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 Proximity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Elements that are close together are perceived as a group.</a:t>
            </a:r>
            <a:endParaRPr sz="13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0" lvl="0" indent="0" algn="l" rtl="0">
              <a:lnSpc>
                <a:spcPct val="922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2" name="Google Shape;132;p6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133" name="Google Shape;133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6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91375" y="2344375"/>
            <a:ext cx="4388900" cy="18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142" name="Google Shape;142;p7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143" name="Google Shape;143;p7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" name="Google Shape;14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7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7"/>
          <p:cNvSpPr txBox="1"/>
          <p:nvPr/>
        </p:nvSpPr>
        <p:spPr>
          <a:xfrm>
            <a:off x="4304625" y="1087976"/>
            <a:ext cx="3962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 Similarity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Things that look similar (color, shape, size) are perceived as belonging together</a:t>
            </a: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8" name="Google Shape;148;p7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149" name="Google Shape;149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7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6">
            <a:alphaModFix/>
          </a:blip>
          <a:srcRect t="20932" b="20663"/>
          <a:stretch/>
        </p:blipFill>
        <p:spPr>
          <a:xfrm>
            <a:off x="4056411" y="2488113"/>
            <a:ext cx="4458826" cy="14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158" name="Google Shape;158;p8"/>
          <p:cNvGrpSpPr/>
          <p:nvPr/>
        </p:nvGrpSpPr>
        <p:grpSpPr>
          <a:xfrm>
            <a:off x="94059" y="431047"/>
            <a:ext cx="9049941" cy="4482751"/>
            <a:chOff x="125412" y="561911"/>
            <a:chExt cx="12066588" cy="5977001"/>
          </a:xfrm>
        </p:grpSpPr>
        <p:sp>
          <p:nvSpPr>
            <p:cNvPr id="159" name="Google Shape;159;p8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8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8"/>
          <p:cNvSpPr txBox="1"/>
          <p:nvPr/>
        </p:nvSpPr>
        <p:spPr>
          <a:xfrm>
            <a:off x="4304625" y="1087976"/>
            <a:ext cx="3962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Continuity (Good Continuation)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perceive elements aligned in a smooth line or curve as part of a continuous group.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4" name="Google Shape;164;p8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165" name="Google Shape;165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" name="Google Shape;167;p8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6">
            <a:alphaModFix/>
          </a:blip>
          <a:srcRect t="17430" b="13893"/>
          <a:stretch/>
        </p:blipFill>
        <p:spPr>
          <a:xfrm>
            <a:off x="4530350" y="2450050"/>
            <a:ext cx="3365649" cy="154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174" name="Google Shape;174;p9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175" name="Google Shape;175;p9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9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9"/>
          <p:cNvSpPr txBox="1"/>
          <p:nvPr/>
        </p:nvSpPr>
        <p:spPr>
          <a:xfrm>
            <a:off x="4304625" y="1087976"/>
            <a:ext cx="3962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 Closure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Our brains fill in missing parts of a design or shape to see a complete figure.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181" name="Google Shape;181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9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4" name="Google Shape;184;p9"/>
          <p:cNvPicPr preferRelativeResize="0"/>
          <p:nvPr/>
        </p:nvPicPr>
        <p:blipFill rotWithShape="1">
          <a:blip r:embed="rId6">
            <a:alphaModFix/>
          </a:blip>
          <a:srcRect l="21331" t="19520" r="19116" b="19763"/>
          <a:stretch/>
        </p:blipFill>
        <p:spPr>
          <a:xfrm>
            <a:off x="4364826" y="2056425"/>
            <a:ext cx="3842002" cy="22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190" name="Google Shape;190;p10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191" name="Google Shape;191;p10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3" name="Google Shape;193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0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0"/>
          <p:cNvSpPr txBox="1"/>
          <p:nvPr/>
        </p:nvSpPr>
        <p:spPr>
          <a:xfrm>
            <a:off x="4304625" y="1087972"/>
            <a:ext cx="3962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Figure/Ground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distinguish an object (the figure) from its background (the ground)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6" name="Google Shape;196;p10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197" name="Google Shape;197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10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09013" y="2202175"/>
            <a:ext cx="3153624" cy="218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206" name="Google Shape;206;p11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207" name="Google Shape;207;p11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" name="Google Shape;209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1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11"/>
          <p:cNvSpPr txBox="1"/>
          <p:nvPr/>
        </p:nvSpPr>
        <p:spPr>
          <a:xfrm>
            <a:off x="4304625" y="1087972"/>
            <a:ext cx="3962400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6. </a:t>
            </a: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Symmetry and Order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prefer symmetrical and organized patterns. We tend to interpret ambiguous images in the simplest form.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2" name="Google Shape;212;p11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213" name="Google Shape;213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p11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7913" y="2398238"/>
            <a:ext cx="36861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>
            <a:spLocks noGrp="1"/>
          </p:cNvSpPr>
          <p:nvPr>
            <p:ph type="title"/>
          </p:nvPr>
        </p:nvSpPr>
        <p:spPr>
          <a:xfrm>
            <a:off x="215750" y="1156500"/>
            <a:ext cx="2189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900" b="0"/>
              <a:t>Gestalt Principles</a:t>
            </a:r>
            <a:endParaRPr sz="2600"/>
          </a:p>
          <a:p>
            <a:pPr marL="12700" marR="0" lvl="0" indent="0" algn="l" rtl="0">
              <a:lnSpc>
                <a:spcPct val="10982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1F5C95"/>
              </a:solidFill>
            </a:endParaRPr>
          </a:p>
        </p:txBody>
      </p:sp>
      <p:grpSp>
        <p:nvGrpSpPr>
          <p:cNvPr id="222" name="Google Shape;222;p12"/>
          <p:cNvGrpSpPr/>
          <p:nvPr/>
        </p:nvGrpSpPr>
        <p:grpSpPr>
          <a:xfrm>
            <a:off x="94059" y="421433"/>
            <a:ext cx="9049941" cy="4482751"/>
            <a:chOff x="125412" y="561911"/>
            <a:chExt cx="12066588" cy="5977001"/>
          </a:xfrm>
        </p:grpSpPr>
        <p:sp>
          <p:nvSpPr>
            <p:cNvPr id="223" name="Google Shape;223;p12"/>
            <p:cNvSpPr/>
            <p:nvPr/>
          </p:nvSpPr>
          <p:spPr>
            <a:xfrm>
              <a:off x="428625" y="4419600"/>
              <a:ext cx="11763375" cy="2085975"/>
            </a:xfrm>
            <a:custGeom>
              <a:avLst/>
              <a:gdLst/>
              <a:ahLst/>
              <a:cxnLst/>
              <a:rect l="l" t="t" r="r" b="b"/>
              <a:pathLst>
                <a:path w="11763375" h="2085975" extrusionOk="0">
                  <a:moveTo>
                    <a:pt x="1176337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763375" y="2085975"/>
                  </a:lnTo>
                  <a:lnTo>
                    <a:pt x="1176337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125412" y="4424426"/>
              <a:ext cx="177800" cy="2087879"/>
            </a:xfrm>
            <a:custGeom>
              <a:avLst/>
              <a:gdLst/>
              <a:ahLst/>
              <a:cxnLst/>
              <a:rect l="l" t="t" r="r" b="b"/>
              <a:pathLst>
                <a:path w="177800" h="2087879" extrusionOk="0">
                  <a:moveTo>
                    <a:pt x="0" y="2087727"/>
                  </a:moveTo>
                  <a:lnTo>
                    <a:pt x="177800" y="2087727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2087727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81575" y="561911"/>
              <a:ext cx="6805676" cy="597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2"/>
            <p:cNvSpPr/>
            <p:nvPr/>
          </p:nvSpPr>
          <p:spPr>
            <a:xfrm>
              <a:off x="5133975" y="590549"/>
              <a:ext cx="6505575" cy="5676900"/>
            </a:xfrm>
            <a:custGeom>
              <a:avLst/>
              <a:gdLst/>
              <a:ahLst/>
              <a:cxnLst/>
              <a:rect l="l" t="t" r="r" b="b"/>
              <a:pathLst>
                <a:path w="6505575" h="5676900" extrusionOk="0">
                  <a:moveTo>
                    <a:pt x="6505575" y="0"/>
                  </a:moveTo>
                  <a:lnTo>
                    <a:pt x="0" y="0"/>
                  </a:lnTo>
                  <a:lnTo>
                    <a:pt x="0" y="5676900"/>
                  </a:lnTo>
                  <a:lnTo>
                    <a:pt x="6505575" y="5676900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12"/>
          <p:cNvSpPr txBox="1"/>
          <p:nvPr/>
        </p:nvSpPr>
        <p:spPr>
          <a:xfrm>
            <a:off x="4304625" y="1087972"/>
            <a:ext cx="3962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5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7. Common Fate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Elements moving in the same direction or changing together are seen as related.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8" name="Google Shape;228;p12"/>
          <p:cNvGrpSpPr/>
          <p:nvPr/>
        </p:nvGrpSpPr>
        <p:grpSpPr>
          <a:xfrm>
            <a:off x="142875" y="4507706"/>
            <a:ext cx="8751094" cy="528638"/>
            <a:chOff x="190500" y="6010275"/>
            <a:chExt cx="11668125" cy="704850"/>
          </a:xfrm>
        </p:grpSpPr>
        <p:pic>
          <p:nvPicPr>
            <p:cNvPr id="229" name="Google Shape;229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12"/>
          <p:cNvSpPr/>
          <p:nvPr/>
        </p:nvSpPr>
        <p:spPr>
          <a:xfrm>
            <a:off x="0" y="0"/>
            <a:ext cx="9144000" cy="184500"/>
          </a:xfrm>
          <a:prstGeom prst="rect">
            <a:avLst/>
          </a:prstGeom>
          <a:solidFill>
            <a:srgbClr val="274E1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04625" y="2142150"/>
            <a:ext cx="3799575" cy="1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501729" y="364045"/>
            <a:ext cx="4944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2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Cognitive Load </a:t>
            </a:r>
            <a:endParaRPr sz="2300"/>
          </a:p>
        </p:txBody>
      </p:sp>
      <p:sp>
        <p:nvSpPr>
          <p:cNvPr id="238" name="Google Shape;238;p13"/>
          <p:cNvSpPr/>
          <p:nvPr/>
        </p:nvSpPr>
        <p:spPr>
          <a:xfrm>
            <a:off x="0" y="814388"/>
            <a:ext cx="64294" cy="500063"/>
          </a:xfrm>
          <a:custGeom>
            <a:avLst/>
            <a:gdLst/>
            <a:ahLst/>
            <a:cxnLst/>
            <a:rect l="l" t="t" r="r" b="b"/>
            <a:pathLst>
              <a:path w="85725" h="666750" extrusionOk="0">
                <a:moveTo>
                  <a:pt x="85725" y="0"/>
                </a:moveTo>
                <a:lnTo>
                  <a:pt x="0" y="0"/>
                </a:lnTo>
                <a:lnTo>
                  <a:pt x="0" y="666750"/>
                </a:lnTo>
                <a:lnTo>
                  <a:pt x="85725" y="666750"/>
                </a:lnTo>
                <a:lnTo>
                  <a:pt x="85725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21444" y="814388"/>
            <a:ext cx="142875" cy="500063"/>
          </a:xfrm>
          <a:custGeom>
            <a:avLst/>
            <a:gdLst/>
            <a:ahLst/>
            <a:cxnLst/>
            <a:rect l="l" t="t" r="r" b="b"/>
            <a:pathLst>
              <a:path w="190500" h="666750" extrusionOk="0">
                <a:moveTo>
                  <a:pt x="190500" y="0"/>
                </a:moveTo>
                <a:lnTo>
                  <a:pt x="0" y="0"/>
                </a:lnTo>
                <a:lnTo>
                  <a:pt x="0" y="666750"/>
                </a:lnTo>
                <a:lnTo>
                  <a:pt x="190500" y="666750"/>
                </a:lnTo>
                <a:lnTo>
                  <a:pt x="190500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31525" y="1293025"/>
            <a:ext cx="2040493" cy="21431"/>
          </a:xfrm>
          <a:custGeom>
            <a:avLst/>
            <a:gdLst/>
            <a:ahLst/>
            <a:cxnLst/>
            <a:rect l="l" t="t" r="r" b="b"/>
            <a:pathLst>
              <a:path w="4295775" h="28575" extrusionOk="0">
                <a:moveTo>
                  <a:pt x="4295775" y="0"/>
                </a:moveTo>
                <a:lnTo>
                  <a:pt x="0" y="0"/>
                </a:lnTo>
                <a:lnTo>
                  <a:pt x="0" y="28575"/>
                </a:lnTo>
                <a:lnTo>
                  <a:pt x="4295775" y="28575"/>
                </a:lnTo>
                <a:lnTo>
                  <a:pt x="4295775" y="0"/>
                </a:lnTo>
                <a:close/>
              </a:path>
            </a:pathLst>
          </a:custGeom>
          <a:solidFill>
            <a:srgbClr val="0E9E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501725" y="1561475"/>
            <a:ext cx="39963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25" rIns="0" bIns="0" anchor="t" anchorCtr="0">
            <a:spAutoFit/>
          </a:bodyPr>
          <a:lstStyle/>
          <a:p>
            <a:pPr marL="342900" marR="0" lvl="0" indent="0" algn="l" rtl="0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Cognitive load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refers to the amount of </a:t>
            </a: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mental effort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being used in the </a:t>
            </a: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memory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at any given time. In simple terms, it's how hard your brain has to work to understand or process information.</a:t>
            </a:r>
            <a:endParaRPr sz="15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2" name="Google Shape;24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5" y="4707731"/>
            <a:ext cx="807244" cy="328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3"/>
          <p:cNvGrpSpPr/>
          <p:nvPr/>
        </p:nvGrpSpPr>
        <p:grpSpPr>
          <a:xfrm>
            <a:off x="4664494" y="0"/>
            <a:ext cx="4480151" cy="5143500"/>
            <a:chOff x="5534025" y="0"/>
            <a:chExt cx="6657975" cy="6858000"/>
          </a:xfrm>
        </p:grpSpPr>
        <p:sp>
          <p:nvSpPr>
            <p:cNvPr id="244" name="Google Shape;244;p13"/>
            <p:cNvSpPr/>
            <p:nvPr/>
          </p:nvSpPr>
          <p:spPr>
            <a:xfrm>
              <a:off x="1069657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 extrusionOk="0">
                  <a:moveTo>
                    <a:pt x="14954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425" y="6858000"/>
                  </a:lnTo>
                  <a:lnTo>
                    <a:pt x="14954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5" name="Google Shape;24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34025" y="485711"/>
              <a:ext cx="6310376" cy="6138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13"/>
            <p:cNvSpPr/>
            <p:nvPr/>
          </p:nvSpPr>
          <p:spPr>
            <a:xfrm>
              <a:off x="5686425" y="514350"/>
              <a:ext cx="6010275" cy="5838825"/>
            </a:xfrm>
            <a:custGeom>
              <a:avLst/>
              <a:gdLst/>
              <a:ahLst/>
              <a:cxnLst/>
              <a:rect l="l" t="t" r="r" b="b"/>
              <a:pathLst>
                <a:path w="6010275" h="5838825" extrusionOk="0">
                  <a:moveTo>
                    <a:pt x="6010275" y="0"/>
                  </a:moveTo>
                  <a:lnTo>
                    <a:pt x="0" y="0"/>
                  </a:lnTo>
                  <a:lnTo>
                    <a:pt x="0" y="5838825"/>
                  </a:lnTo>
                  <a:lnTo>
                    <a:pt x="6010275" y="5838825"/>
                  </a:lnTo>
                  <a:lnTo>
                    <a:pt x="6010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7" name="Google Shape;247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8" name="Google Shape;24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6325" y="1220150"/>
            <a:ext cx="2843100" cy="28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>
            <a:spLocks noGrp="1"/>
          </p:cNvSpPr>
          <p:nvPr>
            <p:ph type="title"/>
          </p:nvPr>
        </p:nvSpPr>
        <p:spPr>
          <a:xfrm>
            <a:off x="501729" y="364045"/>
            <a:ext cx="4944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2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Cognitive Load </a:t>
            </a:r>
            <a:endParaRPr sz="2300"/>
          </a:p>
        </p:txBody>
      </p:sp>
      <p:sp>
        <p:nvSpPr>
          <p:cNvPr id="254" name="Google Shape;254;p14"/>
          <p:cNvSpPr/>
          <p:nvPr/>
        </p:nvSpPr>
        <p:spPr>
          <a:xfrm>
            <a:off x="0" y="814388"/>
            <a:ext cx="64294" cy="500063"/>
          </a:xfrm>
          <a:custGeom>
            <a:avLst/>
            <a:gdLst/>
            <a:ahLst/>
            <a:cxnLst/>
            <a:rect l="l" t="t" r="r" b="b"/>
            <a:pathLst>
              <a:path w="85725" h="666750" extrusionOk="0">
                <a:moveTo>
                  <a:pt x="85725" y="0"/>
                </a:moveTo>
                <a:lnTo>
                  <a:pt x="0" y="0"/>
                </a:lnTo>
                <a:lnTo>
                  <a:pt x="0" y="666750"/>
                </a:lnTo>
                <a:lnTo>
                  <a:pt x="85725" y="666750"/>
                </a:lnTo>
                <a:lnTo>
                  <a:pt x="85725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21444" y="814388"/>
            <a:ext cx="142875" cy="500063"/>
          </a:xfrm>
          <a:custGeom>
            <a:avLst/>
            <a:gdLst/>
            <a:ahLst/>
            <a:cxnLst/>
            <a:rect l="l" t="t" r="r" b="b"/>
            <a:pathLst>
              <a:path w="190500" h="666750" extrusionOk="0">
                <a:moveTo>
                  <a:pt x="190500" y="0"/>
                </a:moveTo>
                <a:lnTo>
                  <a:pt x="0" y="0"/>
                </a:lnTo>
                <a:lnTo>
                  <a:pt x="0" y="666750"/>
                </a:lnTo>
                <a:lnTo>
                  <a:pt x="190500" y="666750"/>
                </a:lnTo>
                <a:lnTo>
                  <a:pt x="190500" y="0"/>
                </a:lnTo>
                <a:close/>
              </a:path>
            </a:pathLst>
          </a:cu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31525" y="1293025"/>
            <a:ext cx="2040493" cy="21431"/>
          </a:xfrm>
          <a:custGeom>
            <a:avLst/>
            <a:gdLst/>
            <a:ahLst/>
            <a:cxnLst/>
            <a:rect l="l" t="t" r="r" b="b"/>
            <a:pathLst>
              <a:path w="4295775" h="28575" extrusionOk="0">
                <a:moveTo>
                  <a:pt x="4295775" y="0"/>
                </a:moveTo>
                <a:lnTo>
                  <a:pt x="0" y="0"/>
                </a:lnTo>
                <a:lnTo>
                  <a:pt x="0" y="28575"/>
                </a:lnTo>
                <a:lnTo>
                  <a:pt x="4295775" y="28575"/>
                </a:lnTo>
                <a:lnTo>
                  <a:pt x="4295775" y="0"/>
                </a:lnTo>
                <a:close/>
              </a:path>
            </a:pathLst>
          </a:custGeom>
          <a:solidFill>
            <a:srgbClr val="0E9E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501725" y="1561475"/>
            <a:ext cx="39963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25" rIns="0" bIns="0" anchor="t" anchorCtr="0">
            <a:spAutoFit/>
          </a:bodyPr>
          <a:lstStyle/>
          <a:p>
            <a:pPr marL="342900" marR="0" lvl="0" indent="0" algn="l" rtl="0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Cognitive load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refers to the amount of </a:t>
            </a: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mental effort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being used in the </a:t>
            </a:r>
            <a:r>
              <a:rPr lang="en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memory</a:t>
            </a:r>
            <a:r>
              <a:rPr lang="en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at any given time. In simple terms, it's how hard your brain has to work to understand or process information.</a:t>
            </a:r>
            <a:endParaRPr sz="15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8" name="Google Shape;2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5" y="4707731"/>
            <a:ext cx="807244" cy="328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14"/>
          <p:cNvGrpSpPr/>
          <p:nvPr/>
        </p:nvGrpSpPr>
        <p:grpSpPr>
          <a:xfrm>
            <a:off x="4664494" y="0"/>
            <a:ext cx="4480151" cy="5143500"/>
            <a:chOff x="5534025" y="0"/>
            <a:chExt cx="6657975" cy="6858000"/>
          </a:xfrm>
        </p:grpSpPr>
        <p:sp>
          <p:nvSpPr>
            <p:cNvPr id="260" name="Google Shape;260;p14"/>
            <p:cNvSpPr/>
            <p:nvPr/>
          </p:nvSpPr>
          <p:spPr>
            <a:xfrm>
              <a:off x="1069657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 extrusionOk="0">
                  <a:moveTo>
                    <a:pt x="14954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425" y="6858000"/>
                  </a:lnTo>
                  <a:lnTo>
                    <a:pt x="14954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" name="Google Shape;261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34025" y="485711"/>
              <a:ext cx="6310376" cy="6138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14"/>
            <p:cNvSpPr/>
            <p:nvPr/>
          </p:nvSpPr>
          <p:spPr>
            <a:xfrm>
              <a:off x="5686425" y="514350"/>
              <a:ext cx="6010275" cy="5838825"/>
            </a:xfrm>
            <a:custGeom>
              <a:avLst/>
              <a:gdLst/>
              <a:ahLst/>
              <a:cxnLst/>
              <a:rect l="l" t="t" r="r" b="b"/>
              <a:pathLst>
                <a:path w="6010275" h="5838825" extrusionOk="0">
                  <a:moveTo>
                    <a:pt x="6010275" y="0"/>
                  </a:moveTo>
                  <a:lnTo>
                    <a:pt x="0" y="0"/>
                  </a:lnTo>
                  <a:lnTo>
                    <a:pt x="0" y="5838825"/>
                  </a:lnTo>
                  <a:lnTo>
                    <a:pt x="6010275" y="5838825"/>
                  </a:lnTo>
                  <a:lnTo>
                    <a:pt x="6010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4" name="Google Shape;264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6325" y="1220150"/>
            <a:ext cx="2843100" cy="28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270" name="Google Shape;270;p15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271" name="Google Shape;271;p15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2" name="Google Shape;272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15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4" name="Google Shape;274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15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3613025" y="422250"/>
            <a:ext cx="52164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 Clarity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Avoid clutter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Remove unnecessary elements (e.g., gridlines, 3D effects).</a:t>
            </a:r>
            <a:b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 clear labels and legends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Make sure titles, axes, and legends are descriptive and easy to understand.</a:t>
            </a:r>
            <a:b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Highlight key insights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Emphasize the most important data.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8" name="Google Shape;278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1993" y="2710018"/>
            <a:ext cx="3551150" cy="17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284" name="Google Shape;284;p16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285" name="Google Shape;285;p16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6" name="Google Shape;286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16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p16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3613025" y="422250"/>
            <a:ext cx="5216400" cy="1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2.Accuracy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Visuals must represent the data truthfully.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Avoid distortions (e.g., misleading axes or 3D effects).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Maintain consistent scales.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2" name="Google Shape;292;p16" title="ChatGPT Image Aug 2, 2025, 04_25_14 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2525" y="1897925"/>
            <a:ext cx="4536550" cy="23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298" name="Google Shape;298;p17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299" name="Google Shape;299;p17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" name="Google Shape;300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7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" name="Google Shape;30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17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3613025" y="422250"/>
            <a:ext cx="5216400" cy="16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Simplicity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Less is more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Don't overload the chart with too much information.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Avoid chartjunk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Graphics or visuals that don’t add value (e.g., sc).</a:t>
            </a:r>
            <a:endParaRPr sz="13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 clean fonts</a:t>
            </a:r>
            <a:r>
              <a:rPr lang="en" sz="13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Stick to professional and readable fonts.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6" name="Google Shape;306;p17" title="ChatGPT Image Aug 2, 2025, 04_41_25 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3400" y="2238350"/>
            <a:ext cx="4118075" cy="21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12" name="Google Shape;312;p18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13" name="Google Shape;313;p18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4" name="Google Shape;314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8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6" name="Google Shape;316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" name="Google Shape;318;p18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3613025" y="422250"/>
            <a:ext cx="52164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Relevance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only data that matters to the purpose.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overloading with unnecessary dimensions or metrics.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0" name="Google Shape;320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5425" y="1492625"/>
            <a:ext cx="45542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26" name="Google Shape;326;p19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27" name="Google Shape;327;p19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8" name="Google Shape;328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9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" name="Google Shape;330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19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3613025" y="422250"/>
            <a:ext cx="5216400" cy="1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Consistency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consistent colors, scales, and design elements across charts.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 a visual hierarchy that guides the viewer’s attention.</a:t>
            </a:r>
            <a:endParaRPr sz="13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4" name="Google Shape;334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25332" y="1874875"/>
            <a:ext cx="4191775" cy="236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40" name="Google Shape;340;p20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41" name="Google Shape;341;p20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" name="Google Shape;34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20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" name="Google Shape;344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20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3613025" y="422250"/>
            <a:ext cx="5216400" cy="1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Comparability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it easy to compare values across categories or time periods.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common baselines and align axes where comparisons are made.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8000" y="1963275"/>
            <a:ext cx="2040049" cy="23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54" name="Google Shape;354;p21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55" name="Google Shape;355;p21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" name="Google Shape;356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1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0" name="Google Shape;360;p21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3613025" y="422250"/>
            <a:ext cx="5216400" cy="1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Context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enough context to understand the data (e.g., units, time frames).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benchmarks or reference lines when useful.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40263" y="1891650"/>
            <a:ext cx="4561924" cy="26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68" name="Google Shape;368;p22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69" name="Google Shape;369;p22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0" name="Google Shape;370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22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2" name="Google Shape;372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22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3613025" y="422250"/>
            <a:ext cx="52164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Storytelling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 the viewer through the insights.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sequencing or dashboards to support narrative flow.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203" y="1589512"/>
            <a:ext cx="5390147" cy="25641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"/>
          <p:cNvSpPr txBox="1">
            <a:spLocks noGrp="1"/>
          </p:cNvSpPr>
          <p:nvPr>
            <p:ph type="title"/>
          </p:nvPr>
        </p:nvSpPr>
        <p:spPr>
          <a:xfrm>
            <a:off x="501730" y="364050"/>
            <a:ext cx="3111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0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Principle of Good Data Visualization</a:t>
            </a:r>
            <a:endParaRPr sz="230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/>
          </a:p>
        </p:txBody>
      </p:sp>
      <p:grpSp>
        <p:nvGrpSpPr>
          <p:cNvPr id="382" name="Google Shape;382;p23"/>
          <p:cNvGrpSpPr/>
          <p:nvPr/>
        </p:nvGrpSpPr>
        <p:grpSpPr>
          <a:xfrm>
            <a:off x="50006" y="242839"/>
            <a:ext cx="9093994" cy="4793504"/>
            <a:chOff x="66675" y="323786"/>
            <a:chExt cx="12125325" cy="6391339"/>
          </a:xfrm>
        </p:grpSpPr>
        <p:sp>
          <p:nvSpPr>
            <p:cNvPr id="383" name="Google Shape;383;p23"/>
            <p:cNvSpPr/>
            <p:nvPr/>
          </p:nvSpPr>
          <p:spPr>
            <a:xfrm>
              <a:off x="66675" y="5762625"/>
              <a:ext cx="12125325" cy="742950"/>
            </a:xfrm>
            <a:custGeom>
              <a:avLst/>
              <a:gdLst/>
              <a:ahLst/>
              <a:cxnLst/>
              <a:rect l="l" t="t" r="r" b="b"/>
              <a:pathLst>
                <a:path w="12125325" h="742950" extrusionOk="0">
                  <a:moveTo>
                    <a:pt x="1524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52400" y="733425"/>
                  </a:lnTo>
                  <a:lnTo>
                    <a:pt x="152400" y="0"/>
                  </a:lnTo>
                  <a:close/>
                </a:path>
                <a:path w="12125325" h="742950" extrusionOk="0">
                  <a:moveTo>
                    <a:pt x="12125325" y="0"/>
                  </a:moveTo>
                  <a:lnTo>
                    <a:pt x="295275" y="0"/>
                  </a:lnTo>
                  <a:lnTo>
                    <a:pt x="295275" y="742950"/>
                  </a:lnTo>
                  <a:lnTo>
                    <a:pt x="12125325" y="742950"/>
                  </a:lnTo>
                  <a:lnTo>
                    <a:pt x="12125325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4" name="Google Shape;384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3550" y="323786"/>
              <a:ext cx="6481826" cy="621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23"/>
            <p:cNvSpPr/>
            <p:nvPr/>
          </p:nvSpPr>
          <p:spPr>
            <a:xfrm>
              <a:off x="4511850" y="352425"/>
              <a:ext cx="7371707" cy="5915025"/>
            </a:xfrm>
            <a:custGeom>
              <a:avLst/>
              <a:gdLst/>
              <a:ahLst/>
              <a:cxnLst/>
              <a:rect l="l" t="t" r="r" b="b"/>
              <a:pathLst>
                <a:path w="6181725" h="5915025" extrusionOk="0">
                  <a:moveTo>
                    <a:pt x="618172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6181725" y="5915025"/>
                  </a:lnTo>
                  <a:lnTo>
                    <a:pt x="61817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6" name="Google Shape;38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10925" y="6010275"/>
              <a:ext cx="64770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0" y="6276975"/>
              <a:ext cx="107632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8" name="Google Shape;388;p23"/>
          <p:cNvSpPr/>
          <p:nvPr/>
        </p:nvSpPr>
        <p:spPr>
          <a:xfrm>
            <a:off x="8100488" y="3644175"/>
            <a:ext cx="614400" cy="2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3613025" y="422250"/>
            <a:ext cx="52164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9.Accessibility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colorblind-friendly palettes.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readability for all audiences (e.g., font size, contrast).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23"/>
          <p:cNvPicPr preferRelativeResize="0"/>
          <p:nvPr/>
        </p:nvPicPr>
        <p:blipFill rotWithShape="1">
          <a:blip r:embed="rId6">
            <a:alphaModFix/>
          </a:blip>
          <a:srcRect l="10712" r="4606"/>
          <a:stretch/>
        </p:blipFill>
        <p:spPr>
          <a:xfrm>
            <a:off x="3711112" y="2049000"/>
            <a:ext cx="5020224" cy="17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On-screen Show (16:9)</PresentationFormat>
  <Paragraphs>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Trebuchet MS</vt:lpstr>
      <vt:lpstr>Simple Light</vt:lpstr>
      <vt:lpstr>PowerPoint Presentation</vt:lpstr>
      <vt:lpstr>PowerPoint Presentation</vt:lpstr>
      <vt:lpstr>Agenda</vt:lpstr>
      <vt:lpstr>Visual Perception </vt:lpstr>
      <vt:lpstr>Visual Perception </vt:lpstr>
      <vt:lpstr>Gestalt Principles </vt:lpstr>
      <vt:lpstr>Gestalt Principles </vt:lpstr>
      <vt:lpstr>Gestalt Principles </vt:lpstr>
      <vt:lpstr>Gestalt Principles </vt:lpstr>
      <vt:lpstr>Gestalt Principles </vt:lpstr>
      <vt:lpstr>Gestalt Principles </vt:lpstr>
      <vt:lpstr>Gestalt Principles </vt:lpstr>
      <vt:lpstr>Cognitive Load </vt:lpstr>
      <vt:lpstr>Cognitive Load </vt:lpstr>
      <vt:lpstr>Principle of Good Data Visualization </vt:lpstr>
      <vt:lpstr>Principle of Good Data Visualization </vt:lpstr>
      <vt:lpstr>Principle of Good Data Visualization </vt:lpstr>
      <vt:lpstr>Principle of Good Data Visualization </vt:lpstr>
      <vt:lpstr>Principle of Good Data Visualization </vt:lpstr>
      <vt:lpstr>Principle of Good Data Visualization </vt:lpstr>
      <vt:lpstr>Principle of Good Data Visualization </vt:lpstr>
      <vt:lpstr>Principle of Good Data Visualization </vt:lpstr>
      <vt:lpstr>Principle of Good Data Visualization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1</cp:revision>
  <dcterms:modified xsi:type="dcterms:W3CDTF">2026-08-04T06:55:06Z</dcterms:modified>
</cp:coreProperties>
</file>